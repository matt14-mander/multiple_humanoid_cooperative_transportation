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3" r:id="rId5"/>
    <p:sldId id="261" r:id="rId6"/>
    <p:sldId id="262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ctrTitle"/>
              </p:nvPr>
            </p:nvSpPr>
            <p:spPr>
              <a:xfrm>
                <a:off x="-24130" y="460375"/>
                <a:ext cx="12192000" cy="1839595"/>
              </a:xfrm>
            </p:spPr>
            <p:txBody>
              <a:bodyPr>
                <a:normAutofit fontScale="90000"/>
              </a:bodyPr>
              <a:p>
                <a:pPr algn="l"/>
                <a:r>
                  <a:rPr lang="zh-CN" altLang="en-US" sz="2700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采用广义动量观测器</a:t>
                </a:r>
                <a:r>
                  <a:rPr lang="en-US" altLang="zh-CN" sz="2700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:</a:t>
                </a:r>
                <a:br>
                  <a:rPr lang="en-US" altLang="zh-CN" sz="2665" i="1">
                    <a:latin typeface="Cambria Math" panose="02040503050406030204" charset="0"/>
                    <a:cs typeface="Cambria Math" panose="020405030504060302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𝑝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𝑀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           </m:t>
                      </m:r>
                      <m:acc>
                        <m:accPr>
                          <m:chr m:val="̇"/>
                          <m:ctrlP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</m:acc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​=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𝑀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acc>
                        <m:accPr>
                          <m:chr m:val="̈"/>
                          <m:ctrlP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​+</m:t>
                      </m:r>
                      <m:acc>
                        <m:accPr>
                          <m:chr m:val="̇"/>
                          <m:ctrlP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</m:acc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acc>
                        <m:accPr>
                          <m:chr m:val="̇"/>
                          <m:ctrlP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​</m:t>
                      </m:r>
                    </m:oMath>
                    <m:oMath xmlns:m="http://schemas.openxmlformats.org/officeDocument/2006/math"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𝛽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)−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  <m:sSup>
                        <m:sSupPr>
                          <m:ctrlP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</m:oMath>
                    <m:oMath xmlns:m="http://schemas.openxmlformats.org/officeDocument/2006/math"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sz="266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665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subHide m:val="on"/>
                              <m:supHide m:val="on"/>
                              <m:ctrlPr>
                                <a:rPr lang="en-US" altLang="zh-CN" sz="266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266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altLang="zh-CN" sz="266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6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266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𝑚𝑒𝑎𝑠𝑢𝑟𝑒𝑑</m:t>
                              </m:r>
                            </m:sub>
                          </m:sSub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𝛽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 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𝑑𝑡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−(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66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65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665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665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sz="2665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-24130" y="460375"/>
                <a:ext cx="12192000" cy="183959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-5715" y="2412365"/>
                <a:ext cx="12192000" cy="1061085"/>
              </a:xfrm>
            </p:spPr>
            <p:txBody>
              <a:bodyPr>
                <a:normAutofit lnSpcReduction="10000"/>
              </a:bodyPr>
              <a:p>
                <a:pPr algn="l"/>
                <a:r>
                  <a:rPr lang="zh-CN" altLang="en-US">
                    <a:latin typeface="仿宋" panose="02010609060101010101" charset="-122"/>
                    <a:ea typeface="仿宋" panose="02010609060101010101" charset="-122"/>
                  </a:rPr>
                  <a:t>收敛关系</a:t>
                </a:r>
                <a:r>
                  <a:rPr lang="en-US" altLang="zh-CN">
                    <a:latin typeface="仿宋" panose="02010609060101010101" charset="-122"/>
                    <a:ea typeface="仿宋" panose="02010609060101010101" charset="-122"/>
                  </a:rPr>
                  <a:t>:</a:t>
                </a:r>
                <a:endParaRPr lang="zh-CN" altLang="en-US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𝑒𝑥𝑡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副标题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-5715" y="2412365"/>
                <a:ext cx="12192000" cy="106108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0" y="3294380"/>
                <a:ext cx="12216130" cy="45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𝑒𝑥𝑡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4380"/>
                <a:ext cx="12216130" cy="4521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-5715" y="0"/>
            <a:ext cx="4623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仿宋" panose="02010609060101010101" charset="-122"/>
                <a:ea typeface="仿宋" panose="02010609060101010101" charset="-122"/>
              </a:rPr>
              <a:t>无力传感器外力矩估计</a:t>
            </a:r>
            <a:endParaRPr lang="zh-CN" altLang="en-US" sz="24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6900" y="5805170"/>
            <a:ext cx="104717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Based on:</a:t>
            </a:r>
            <a:endParaRPr lang="en-US" altLang="zh-CN" sz="1400"/>
          </a:p>
          <a:p>
            <a:r>
              <a:rPr lang="en-US" altLang="zh-CN" sz="1400"/>
              <a:t>    De Luca, A., &amp; Mattone, R. (2005).</a:t>
            </a:r>
            <a:endParaRPr lang="en-US" altLang="zh-CN" sz="1400"/>
          </a:p>
          <a:p>
            <a:r>
              <a:rPr lang="en-US" altLang="zh-CN" sz="1400"/>
              <a:t>    "Sensorless robot collision detection and hybrid force/motion control."</a:t>
            </a:r>
            <a:endParaRPr lang="en-US" altLang="zh-CN" sz="1400"/>
          </a:p>
          <a:p>
            <a:r>
              <a:rPr lang="en-US" altLang="zh-CN" sz="1400"/>
              <a:t>    IEEE International Conference on Robotics and Automation (ICRA).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35" y="4031615"/>
                <a:ext cx="12166600" cy="1406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行走时基座</a:t>
                </a:r>
                <a:r>
                  <a:rPr lang="en-US" altLang="zh-CN" sz="24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TRON+Airbot</a:t>
                </a:r>
                <a:endParaRPr lang="en-US" altLang="zh-CN" sz="24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𝑎𝑎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𝑎𝑏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𝑒𝑎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​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𝑀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𝜏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" y="4031615"/>
                <a:ext cx="12166600" cy="14065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5463540" cy="20193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/>
              <a:t>零接触力时：</a:t>
            </a:r>
            <a:endParaRPr lang="zh-CN" altLang="en-US" sz="2400"/>
          </a:p>
          <a:p>
            <a:r>
              <a:rPr lang="zh-CN" altLang="en-US" sz="2400"/>
              <a:t>惯性低估10%会产生约 0.843 </a:t>
            </a:r>
            <a:r>
              <a:rPr lang="en-US" altLang="zh-CN" sz="2400"/>
              <a:t>N </a:t>
            </a:r>
            <a:r>
              <a:rPr lang="zh-CN" altLang="en-US" sz="2400"/>
              <a:t>虚假力；</a:t>
            </a:r>
            <a:r>
              <a:rPr lang="en-US" altLang="zh-CN" sz="2400"/>
              <a:t>(</a:t>
            </a:r>
            <a:r>
              <a:rPr lang="zh-CN" altLang="en-US" sz="2400"/>
              <a:t>重力补偿失配）</a:t>
            </a:r>
            <a:endParaRPr lang="zh-CN" altLang="en-US" sz="2400"/>
          </a:p>
          <a:p>
            <a:r>
              <a:rPr lang="zh-CN" altLang="en-US" sz="2400"/>
              <a:t>未建模200 </a:t>
            </a:r>
            <a:r>
              <a:rPr lang="en-US" altLang="zh-CN" sz="2400"/>
              <a:t>g</a:t>
            </a:r>
            <a:r>
              <a:rPr lang="zh-CN" altLang="en-US" sz="2400"/>
              <a:t>工具会产生约 1.134 </a:t>
            </a:r>
            <a:r>
              <a:rPr lang="en-US" altLang="zh-CN" sz="2400"/>
              <a:t>N </a:t>
            </a:r>
            <a:r>
              <a:rPr lang="zh-CN" altLang="en-US" sz="2400"/>
              <a:t>虚假力。</a:t>
            </a:r>
            <a:endParaRPr lang="zh-CN" altLang="en-US" sz="2400"/>
          </a:p>
          <a:p>
            <a:r>
              <a:rPr lang="zh-CN" altLang="en-US" sz="2400"/>
              <a:t>这说明观测器会把重力模型误差和工具自重误认为外部接触力。</a:t>
            </a:r>
            <a:endParaRPr lang="zh-CN" altLang="en-US" sz="2400"/>
          </a:p>
        </p:txBody>
      </p:sp>
      <p:pic>
        <p:nvPicPr>
          <p:cNvPr id="4" name="图片 3" descr="屏幕截图 2026-08-04 0809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67045"/>
            <a:ext cx="6758940" cy="1290955"/>
          </a:xfrm>
          <a:prstGeom prst="rect">
            <a:avLst/>
          </a:prstGeom>
        </p:spPr>
      </p:pic>
      <p:pic>
        <p:nvPicPr>
          <p:cNvPr id="5" name="图片 4" descr="屏幕截图 2026-08-04 082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3536950"/>
            <a:ext cx="6675120" cy="20300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07100" y="692785"/>
            <a:ext cx="5594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双时间尺度方案：抓取后短时主动辨识质量/质心，长距离搬运时冻结参数；动量观测器持续估计交互力，对象级 </a:t>
            </a:r>
            <a:r>
              <a:rPr lang="en-US" altLang="zh-CN"/>
              <a:t>QP </a:t>
            </a:r>
            <a:r>
              <a:rPr lang="zh-CN" altLang="en-US"/>
              <a:t>根据辨识结果分配载荷和内部力。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1365" cy="1691005"/>
              </a:xfrm>
            </p:spPr>
            <p:txBody>
              <a:bodyPr>
                <a:normAutofit/>
              </a:bodyPr>
              <a:p>
                <a:r>
                  <a:rPr lang="zh-CN" altLang="en-US" sz="2400"/>
                  <a:t>固定工具空间惯量补偿</a:t>
                </a:r>
                <a:br>
                  <a:rPr lang="zh-CN" altLang="en-US" sz="240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6,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new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/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6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tool</m:t>
                          </m:r>
                        </m:sub>
                      </m:sSub>
                    </m:oMath>
                  </m:oMathPara>
                </a14:m>
                <a:endParaRPr lang="en-US" altLang="zh-CN" sz="24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1365" cy="169100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0" y="1584325"/>
                <a:ext cx="12166600" cy="1757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空载残差偏置补偿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仿宋" panose="02010609060101010101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仿宋" panose="02010609060101010101" charset="-122"/>
                          <a:cs typeface="Cambria Math" panose="02040503050406030204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charset="0"/>
                          <a:ea typeface="仿宋" panose="02010609060101010101" charset="-122"/>
                          <a:cs typeface="Cambria Math" panose="02040503050406030204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𝑏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𝑏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𝑏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>
                  <a:latin typeface="Cambria Math" panose="02040503050406030204" charset="0"/>
                  <a:ea typeface="仿宋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1584325"/>
                <a:ext cx="12166600" cy="17576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5400" y="3621405"/>
                <a:ext cx="12166600" cy="1218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状态切换规则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ea typeface="仿宋" panose="02010609060101010101" charset="-122"/>
                                          <a:cs typeface="Cambria Math" panose="0204050305040603020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≠0,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∈{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FREE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SPACE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RELEASE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}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ea typeface="仿宋" panose="02010609060101010101" charset="-122"/>
                                          <a:cs typeface="Cambria Math" panose="0204050305040603020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latin typeface="Cambria Math" panose="02040503050406030204" charset="0"/>
                                      <a:ea typeface="仿宋" panose="02010609060101010101" charset="-122"/>
                                      <a:cs typeface="Cambria Math" panose="02040503050406030204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=0,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∈{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GRASP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CARRY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>
                  <a:latin typeface="Cambria Math" panose="02040503050406030204" charset="0"/>
                  <a:ea typeface="仿宋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25400" y="3621405"/>
                <a:ext cx="12166600" cy="12185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03525"/>
                <a:ext cx="10515600" cy="1659890"/>
              </a:xfrm>
            </p:spPr>
            <p:txBody>
              <a:bodyPr/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长距离搬运阶段：冻结参数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,  </m:t>
                      </m:r>
                      <m:acc>
                        <m:accPr>
                          <m:chr m:val="̇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457200" lvl="1" indent="0">
                  <a:buNone/>
                </a:pPr>
                <a:r>
                  <a:rPr lang="zh-CN" altLang="en-US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物体动力学创新</a:t>
                </a:r>
                <a:endParaRPr lang="zh-CN" altLang="en-US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457200" lvl="1" indent="0"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03525"/>
                <a:ext cx="10515600" cy="1659890"/>
              </a:xfrm>
              <a:blipFill rotWithShape="1">
                <a:blip r:embed="rId1"/>
                <a:stretch>
                  <a:fillRect b="-12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306195" y="259715"/>
                <a:ext cx="8522335" cy="2247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i="1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抓取后辨识阶段</a:t>
                </a:r>
                <a:endParaRPr lang="en-US" altLang="zh-CN" i="1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ea typeface="MS Mincho" charset="0"/>
                                              <a:cs typeface="Cambria Math" panose="0204050305040603020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ea typeface="MS Mincho" charset="0"/>
                                              <a:cs typeface="Cambria Math" panose="02040503050406030204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ea typeface="MS Mincho" charset="0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𝐺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trlPr>
                                                    <a:rPr lang="en-US" altLang="zh-CN" i="1">
                                                      <a:latin typeface="Cambria Math" panose="02040503050406030204" charset="0"/>
                                                      <a:cs typeface="Cambria Math" panose="02040503050406030204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charset="0"/>
                                                      <a:cs typeface="Cambria Math" panose="02040503050406030204" charset="0"/>
                                                    </a:rPr>
                                                    <m:t>ℎ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ea typeface="MS Mincho" charset="0"/>
                                              <a:cs typeface="Cambria Math" panose="02040503050406030204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𝑜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ea typeface="MS Mincho" charset="0"/>
                                                  <a:cs typeface="Cambria Math" panose="0204050305040603020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ea typeface="MS Mincho" charset="0"/>
                                                  <a:cs typeface="Cambria Math" panose="02040503050406030204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𝑜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‖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prior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‖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=[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 i="1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约束</a:t>
                </a:r>
                <a:endParaRPr lang="zh-CN" altLang="en-US" i="1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𝑚𝑖𝑛</m:t>
                              </m:r>
                            </m:e>
                            <m:e/>
                          </m:eqAr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𝑚𝑎𝑥</m:t>
                              </m:r>
                            </m:e>
                            <m:e/>
                          </m:eqAr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𝑚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𝑚𝑖𝑛</m:t>
                                  </m:r>
                                </m:e>
                                <m:lim/>
                              </m:limLow>
                            </m:fName>
                            <m:e/>
                          </m:func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ea typeface="MS Mincho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𝑚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𝑚𝑎𝑥</m:t>
                                  </m:r>
                                </m:e>
                                <m:lim/>
                              </m:limLow>
                            </m:fName>
                            <m:e/>
                          </m:func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95" y="259715"/>
                <a:ext cx="8522335" cy="22479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/>
              <p:cNvSpPr>
                <a:spLocks noGrp="1"/>
              </p:cNvSpPr>
              <p:nvPr/>
            </p:nvSpPr>
            <p:spPr>
              <a:xfrm>
                <a:off x="368300" y="4759325"/>
                <a:ext cx="10515600" cy="16598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质量辨识（抬升</a:t>
                </a: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过程）：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ea typeface="仿宋" panose="02010609060101010101" charset="-122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仿宋" panose="02010609060101010101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仿宋" panose="02010609060101010101" charset="-122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𝑜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仿宋" panose="02010609060101010101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457200" lvl="1" indent="0"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4759325"/>
                <a:ext cx="10515600" cy="1659890"/>
              </a:xfrm>
              <a:prstGeom prst="rect">
                <a:avLst/>
              </a:prstGeom>
              <a:blipFill rotWithShape="1">
                <a:blip r:embed="rId3"/>
                <a:stretch>
                  <a:fillRect t="-1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4456430"/>
              </a:xfrm>
            </p:spPr>
            <p:txBody>
              <a:bodyPr>
                <a:normAutofit/>
              </a:bodyPr>
              <a:p>
                <a:r>
                  <a:rPr lang="zh-CN" altLang="en-US" sz="2400"/>
                  <a:t>行走阶段的观测器处理</a:t>
                </a:r>
                <a:br>
                  <a:rPr lang="zh-CN" altLang="en-US" sz="240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bias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𝑚𝑖𝑛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ea typeface="MS Mincho" charset="0"/>
                                              <a:cs typeface="Cambria Math" panose="0204050305040603020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trlPr>
                                                <a:rPr lang="en-US" altLang="zh-CN" sz="2400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charset="0"/>
                                                  <a:ea typeface="MS Mincho" charset="0"/>
                                                  <a:cs typeface="Cambria Math" panose="02040503050406030204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ea typeface="MS Mincho" charset="0"/>
                                              <a:cs typeface="Cambria Math" panose="0204050305040603020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‖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‖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US" altLang="zh-CN" sz="2400" i="1">
                    <a:latin typeface="Cambria Math" panose="02040503050406030204" charset="0"/>
                    <a:cs typeface="Cambria Math" panose="02040503050406030204" charset="0"/>
                  </a:rPr>
                </a:br>
                <a:r>
                  <a:rPr lang="zh-CN" altLang="en-US" sz="2400" i="1">
                    <a:latin typeface="Cambria Math" panose="02040503050406030204" charset="0"/>
                    <a:cs typeface="Cambria Math" panose="02040503050406030204" charset="0"/>
                  </a:rPr>
                  <a:t>对象级</a:t>
                </a:r>
                <a:r>
                  <a:rPr lang="en-US" altLang="zh-CN" sz="2400" i="1">
                    <a:latin typeface="Cambria Math" panose="02040503050406030204" charset="0"/>
                    <a:cs typeface="Cambria Math" panose="02040503050406030204" charset="0"/>
                  </a:rPr>
                  <a:t>QP</a:t>
                </a:r>
                <a:br>
                  <a:rPr lang="en-US" altLang="zh-CN" sz="2400" i="1">
                    <a:latin typeface="Cambria Math" panose="02040503050406030204" charset="0"/>
                    <a:cs typeface="Cambria Math" panose="020405030504060302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⋆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⋆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⋆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𝑡𝑟𝑎𝑐𝑘</m:t>
                          </m:r>
                        </m:sub>
                      </m:sSub>
                    </m:oMath>
                  </m:oMathPara>
                </a14:m>
                <a:br>
                  <a:rPr lang="en-US" altLang="zh-CN" sz="2400" i="1">
                    <a:latin typeface="Cambria Math" panose="02040503050406030204" charset="0"/>
                    <a:cs typeface="Cambria Math" panose="02040503050406030204" charset="0"/>
                  </a:rPr>
                </a:br>
                <a:r>
                  <a:rPr lang="zh-CN" altLang="en-US" sz="2400" i="1">
                    <a:latin typeface="Cambria Math" panose="02040503050406030204" charset="0"/>
                    <a:cs typeface="Cambria Math" panose="02040503050406030204" charset="0"/>
                  </a:rPr>
                  <a:t>求解</a:t>
                </a:r>
                <a:br>
                  <a:rPr lang="zh-CN" altLang="en-US" sz="2400" i="1">
                    <a:latin typeface="Cambria Math" panose="02040503050406030204" charset="0"/>
                    <a:cs typeface="Cambria Math" panose="020405030504060302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𝑚𝑖𝑛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‖</m:t>
                          </m:r>
                        </m:e>
                      </m:func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‖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+‖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‖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𝜌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‖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𝑖𝑛𝑡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𝑟𝑒𝑓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‖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altLang="zh-CN" sz="2400" i="1">
                    <a:latin typeface="Cambria Math" panose="02040503050406030204" charset="0"/>
                    <a:cs typeface="Cambria Math" panose="02040503050406030204" charset="0"/>
                  </a:rPr>
                </a:br>
                <a:r>
                  <a:rPr lang="zh-CN" altLang="en-US" sz="2400" i="1">
                    <a:latin typeface="Cambria Math" panose="02040503050406030204" charset="0"/>
                    <a:cs typeface="Cambria Math" panose="02040503050406030204" charset="0"/>
                  </a:rPr>
                  <a:t>满足</a:t>
                </a:r>
                <a:br>
                  <a:rPr lang="zh-CN" altLang="en-US" sz="2400" i="1">
                    <a:latin typeface="Cambria Math" panose="02040503050406030204" charset="0"/>
                    <a:cs typeface="Cambria Math" panose="020405030504060302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⋆</m:t>
                          </m:r>
                        </m:sup>
                      </m:sSubSup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445643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4247515" cy="458470"/>
          </a:xfrm>
        </p:spPr>
        <p:txBody>
          <a:bodyPr>
            <a:noAutofit/>
          </a:bodyPr>
          <a:p>
            <a:r>
              <a:rPr lang="zh-CN" altLang="en-US" sz="2400" b="1">
                <a:latin typeface="仿宋" panose="02010609060101010101" charset="-122"/>
                <a:ea typeface="仿宋" panose="02010609060101010101" charset="-122"/>
              </a:rPr>
              <a:t>双机器人内力分解</a:t>
            </a:r>
            <a:endParaRPr lang="zh-CN" altLang="en-US" sz="2400" b="1">
              <a:latin typeface="仿宋" panose="02010609060101010101" charset="-122"/>
              <a:ea typeface="仿宋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0" y="503555"/>
                <a:ext cx="12192000" cy="4351655"/>
              </a:xfrm>
            </p:spPr>
            <p:txBody>
              <a:bodyPr>
                <a:normAutofit fontScale="90000"/>
              </a:bodyPr>
              <a:p>
                <a:pPr marL="0" indent="0">
                  <a:buNone/>
                </a:pPr>
                <a:r>
                  <a:rPr lang="zh-CN" altLang="en-US" sz="2700">
                    <a:latin typeface="仿宋" panose="02010609060101010101" charset="-122"/>
                    <a:ea typeface="仿宋" panose="02010609060101010101" charset="-122"/>
                  </a:rPr>
                  <a:t>根据两个抓取点构造抓取矩阵</a:t>
                </a:r>
                <a:endParaRPr lang="zh-CN" altLang="en-US" sz="27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𝑜𝑏𝑗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𝑐𝑜𝑛𝑡𝑎𝑐𝑡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algn="l">
                  <a:buClrTx/>
                  <a:buSzTx/>
                  <a:buNone/>
                </a:pPr>
                <a:r>
                  <a:rPr lang="zh-CN" altLang="en-US" sz="2700">
                    <a:latin typeface="仿宋" panose="02010609060101010101" charset="-122"/>
                    <a:ea typeface="仿宋" panose="02010609060101010101" charset="-122"/>
                  </a:rPr>
                  <a:t>单个接触点对应</a:t>
                </a:r>
                <a:endParaRPr lang="zh-CN" altLang="en-US" sz="27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𝐼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[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]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𝐼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 sz="2700">
                    <a:latin typeface="仿宋" panose="02010609060101010101" charset="-122"/>
                    <a:ea typeface="仿宋" panose="02010609060101010101" charset="-122"/>
                  </a:rPr>
                  <a:t>有效力采用最小范数解：</a:t>
                </a:r>
                <a:endParaRPr lang="zh-CN" altLang="en-US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𝑒𝑓𝑓𝑒𝑐𝑡𝑖𝑣𝑒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𝑜𝑏𝑗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 sz="2700">
                    <a:latin typeface="仿宋" panose="02010609060101010101" charset="-122"/>
                    <a:ea typeface="仿宋" panose="02010609060101010101" charset="-122"/>
                  </a:rPr>
                  <a:t>内力为零空间分量：</a:t>
                </a:r>
                <a:endParaRPr lang="zh-CN" altLang="en-US" sz="27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𝑖𝑛𝑡𝑒𝑟𝑛𝑎𝑙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𝑐𝑜𝑛𝑡𝑎𝑐𝑡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𝑒𝑓𝑓𝑒𝑐𝑡𝑖𝑣𝑒</m:t>
                          </m:r>
                        </m:sub>
                      </m:sSub>
                    </m:oMath>
                  </m:oMathPara>
                </a14:m>
                <a:endParaRPr lang="zh-CN" altLang="en-US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0" algn="l">
                  <a:buClrTx/>
                  <a:buSzTx/>
                  <a:buNone/>
                </a:pPr>
                <a:r>
                  <a:rPr lang="zh-CN" altLang="en-US" sz="2700">
                    <a:latin typeface="仿宋" panose="02010609060101010101" charset="-122"/>
                    <a:ea typeface="仿宋" panose="02010609060101010101" charset="-122"/>
                  </a:rPr>
                  <a:t>并满足：</a:t>
                </a:r>
                <a:endParaRPr lang="zh-CN" altLang="en-US" sz="27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𝑖𝑛𝑡𝑒𝑟𝑛𝑎𝑙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503555"/>
                <a:ext cx="12192000" cy="4351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88925" y="5029200"/>
            <a:ext cx="10109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Based on:</a:t>
            </a:r>
            <a:endParaRPr lang="en-US" altLang="zh-CN"/>
          </a:p>
          <a:p>
            <a:r>
              <a:rPr lang="en-US" altLang="zh-CN"/>
              <a:t>    Erhart, S., &amp; Hirche, S. (2015).</a:t>
            </a:r>
            <a:endParaRPr lang="en-US" altLang="zh-CN"/>
          </a:p>
          <a:p>
            <a:r>
              <a:rPr lang="en-US" altLang="zh-CN"/>
              <a:t>    "Internal Force Analysis and Load Distribution for Cooperative Multi-Robot Manipulation."</a:t>
            </a:r>
            <a:endParaRPr lang="en-US" altLang="zh-CN"/>
          </a:p>
          <a:p>
            <a:r>
              <a:rPr lang="en-US" altLang="zh-CN"/>
              <a:t>    IEEE International Conference on Robotics and Automation (ICRA).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2444750" cy="532765"/>
          </a:xfrm>
        </p:spPr>
        <p:txBody>
          <a:bodyPr/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</a:rPr>
              <a:t>残差导纳控制</a:t>
            </a:r>
            <a:endParaRPr lang="zh-CN" altLang="en-US" sz="2400">
              <a:latin typeface="仿宋" panose="02010609060101010101" charset="-122"/>
              <a:ea typeface="仿宋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0" y="838835"/>
                <a:ext cx="12192635" cy="2752090"/>
              </a:xfrm>
            </p:spPr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实现了六维笛卡尔空间导纳模型：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𝑖𝑛𝑡𝑒𝑟𝑛𝑎𝑙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求解加速度：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𝑖𝑛𝑡𝑒𝑟𝑛𝑎𝑙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)]</m:t>
                      </m:r>
                    </m:oMath>
                  </m:oMathPara>
                </a14:m>
                <a:endParaRPr lang="zh-CN" altLang="en-US"/>
              </a:p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</a:rPr>
                  <a:t>使用半隐式欧拉积分：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][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\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𝑑𝑜𝑡𝑥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835"/>
                <a:ext cx="12192635" cy="275209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49225" y="3511550"/>
                <a:ext cx="10680700" cy="422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𝑐𝑟𝑖𝑡𝑖𝑐𝑎𝑙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sub>
                          </m:sSub>
                        </m:e>
                      </m:rad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5" y="3511550"/>
                <a:ext cx="10680700" cy="4222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9850" y="4794250"/>
            <a:ext cx="11163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Based on:</a:t>
            </a:r>
            <a:endParaRPr lang="en-US" altLang="zh-CN"/>
          </a:p>
          <a:p>
            <a:r>
              <a:rPr lang="en-US" altLang="zh-CN"/>
              <a:t>    Hogan, N. (1985). "Impedance Control: An Approach to Manipulation."</a:t>
            </a:r>
            <a:endParaRPr lang="en-US" altLang="zh-CN"/>
          </a:p>
          <a:p>
            <a:r>
              <a:rPr lang="en-US" altLang="zh-CN"/>
              <a:t>    Seraji, H., &amp; Colbaugh, R. (1997). "Force Tracking in Impedance Control."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0"/>
            <a:ext cx="2444750" cy="532765"/>
          </a:xfrm>
        </p:spPr>
        <p:txBody>
          <a:bodyPr>
            <a:norm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</a:rPr>
              <a:t>内力安全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</a:rPr>
              <a:t>监控</a:t>
            </a:r>
            <a:endParaRPr lang="zh-CN" altLang="en-US" sz="2400">
              <a:latin typeface="仿宋" panose="02010609060101010101" charset="-122"/>
              <a:ea typeface="仿宋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0" y="1003300"/>
                <a:ext cx="12192635" cy="2752090"/>
              </a:xfrm>
            </p:spPr>
            <p:txBody>
              <a:bodyPr>
                <a:normAutofit lnSpcReduction="20000"/>
              </a:bodyPr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目前实现了三类检测：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内力绝对值阈值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内力变化率：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𝛥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 sz="2400">
                    <a:latin typeface="仿宋" panose="02010609060101010101" charset="-122"/>
                    <a:ea typeface="仿宋" panose="02010609060101010101" charset="-122"/>
                    <a:cs typeface="Cambria Math" panose="02040503050406030204" charset="0"/>
                  </a:rPr>
                  <a:t>持续高内力的滑动窗口检测</a:t>
                </a:r>
                <a:endParaRPr lang="zh-CN" altLang="en-US" sz="2400">
                  <a:latin typeface="仿宋" panose="02010609060101010101" charset="-122"/>
                  <a:ea typeface="仿宋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03300"/>
                <a:ext cx="12192635" cy="2752090"/>
              </a:xfrm>
              <a:blipFill rotWithShape="1">
                <a:blip r:embed="rId1"/>
                <a:stretch>
                  <a:fillRect t="-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.7,&quot;left&quot;:0,&quot;top&quot;:124.75,&quot;width&quot;:960}"/>
</p:tagLst>
</file>

<file path=ppt/tags/tag2.xml><?xml version="1.0" encoding="utf-8"?>
<p:tagLst xmlns:p="http://schemas.openxmlformats.org/presentationml/2006/main">
  <p:tag name="KSO_WM_DIAGRAM_VIRTUALLY_FRAME" val="{&quot;height&quot;:288.7,&quot;left&quot;:0,&quot;top&quot;:124.75,&quot;width&quot;:960}"/>
</p:tagLst>
</file>

<file path=ppt/tags/tag3.xml><?xml version="1.0" encoding="utf-8"?>
<p:tagLst xmlns:p="http://schemas.openxmlformats.org/presentationml/2006/main">
  <p:tag name="KSO_WM_DIAGRAM_VIRTUALLY_FRAME" val="{&quot;height&quot;:288.7,&quot;left&quot;:0,&quot;top&quot;:124.75,&quot;width&quot;:960}"/>
</p:tagLst>
</file>

<file path=ppt/tags/tag4.xml><?xml version="1.0" encoding="utf-8"?>
<p:tagLst xmlns:p="http://schemas.openxmlformats.org/presentationml/2006/main">
  <p:tag name="KSO_WM_DIAGRAM_VIRTUALLY_FRAME" val="{&quot;height&quot;:288.7,&quot;left&quot;:0,&quot;top&quot;:124.75,&quot;width&quot;:96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2707</Words>
  <Application>WPS 演示</Application>
  <PresentationFormat>宽屏</PresentationFormat>
  <Paragraphs>95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仿宋</vt:lpstr>
      <vt:lpstr>Cambria Math</vt:lpstr>
      <vt:lpstr>MS Mincho</vt:lpstr>
      <vt:lpstr>Segoe Print</vt:lpstr>
      <vt:lpstr>Calibri</vt:lpstr>
      <vt:lpstr>微软雅黑</vt:lpstr>
      <vt:lpstr>Arial Unicode MS</vt:lpstr>
      <vt:lpstr>Ms.Luce</vt:lpstr>
      <vt:lpstr>WPS</vt:lpstr>
      <vt:lpstr>采用广义动量观测器: </vt:lpstr>
      <vt:lpstr>PowerPoint 演示文稿</vt:lpstr>
      <vt:lpstr>PowerPoint 演示文稿</vt:lpstr>
      <vt:lpstr>PowerPoint 演示文稿</vt:lpstr>
      <vt:lpstr>行走阶段的观测器处理  对象级QP  求解  满足 </vt:lpstr>
      <vt:lpstr>双机器人内力分解</vt:lpstr>
      <vt:lpstr>残差导纳控制</vt:lpstr>
      <vt:lpstr>内力安全监控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郑圆浩</dc:creator>
  <cp:lastModifiedBy>夜雨</cp:lastModifiedBy>
  <cp:revision>9</cp:revision>
  <dcterms:created xsi:type="dcterms:W3CDTF">2023-08-09T12:45:00Z</dcterms:created>
  <dcterms:modified xsi:type="dcterms:W3CDTF">2026-08-04T11:29:41Z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899D89C318F6462D893B563F50DD25A1_12</vt:lpwstr>
  </property>
</Properties>
</file>